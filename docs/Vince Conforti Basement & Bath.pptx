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1"/>
  </p:notesMasterIdLst>
  <p:sldIdLst>
    <p:sldId id="260" r:id="rId5"/>
    <p:sldId id="258" r:id="rId6"/>
    <p:sldId id="520" r:id="rId7"/>
    <p:sldId id="451" r:id="rId8"/>
    <p:sldId id="524" r:id="rId9"/>
    <p:sldId id="523" r:id="rId10"/>
    <p:sldId id="516" r:id="rId11"/>
    <p:sldId id="518" r:id="rId12"/>
    <p:sldId id="501" r:id="rId13"/>
    <p:sldId id="454" r:id="rId14"/>
    <p:sldId id="519" r:id="rId15"/>
    <p:sldId id="517" r:id="rId16"/>
    <p:sldId id="525" r:id="rId17"/>
    <p:sldId id="526" r:id="rId18"/>
    <p:sldId id="527" r:id="rId19"/>
    <p:sldId id="50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73" autoAdjust="0"/>
    <p:restoredTop sz="94660"/>
  </p:normalViewPr>
  <p:slideViewPr>
    <p:cSldViewPr>
      <p:cViewPr>
        <p:scale>
          <a:sx n="136" d="100"/>
          <a:sy n="136" d="100"/>
        </p:scale>
        <p:origin x="77" y="3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y Hogel" userId="8c522a7c-ff5b-4072-bb15-cc12faf141e5" providerId="ADAL" clId="{CAE47D54-355D-407A-B86C-5D4F4A18916F}"/>
    <pc:docChg chg="undo custSel addSld delSld modSld sldOrd">
      <pc:chgData name="Judy Hogel" userId="8c522a7c-ff5b-4072-bb15-cc12faf141e5" providerId="ADAL" clId="{CAE47D54-355D-407A-B86C-5D4F4A18916F}" dt="2025-11-04T16:42:09.220" v="1442" actId="20577"/>
      <pc:docMkLst>
        <pc:docMk/>
      </pc:docMkLst>
      <pc:sldChg chg="addSp delSp modSp mod">
        <pc:chgData name="Judy Hogel" userId="8c522a7c-ff5b-4072-bb15-cc12faf141e5" providerId="ADAL" clId="{CAE47D54-355D-407A-B86C-5D4F4A18916F}" dt="2025-11-04T16:42:09.220" v="1442" actId="20577"/>
        <pc:sldMkLst>
          <pc:docMk/>
          <pc:sldMk cId="3381081491" sldId="520"/>
        </pc:sldMkLst>
        <pc:spChg chg="mod">
          <ac:chgData name="Judy Hogel" userId="8c522a7c-ff5b-4072-bb15-cc12faf141e5" providerId="ADAL" clId="{CAE47D54-355D-407A-B86C-5D4F4A18916F}" dt="2025-11-04T16:41:42.485" v="1427" actId="6549"/>
          <ac:spMkLst>
            <pc:docMk/>
            <pc:sldMk cId="3381081491" sldId="520"/>
            <ac:spMk id="4" creationId="{B41EDFDC-74FA-5721-86D9-E96596ADE149}"/>
          </ac:spMkLst>
        </pc:spChg>
        <pc:spChg chg="mod">
          <ac:chgData name="Judy Hogel" userId="8c522a7c-ff5b-4072-bb15-cc12faf141e5" providerId="ADAL" clId="{CAE47D54-355D-407A-B86C-5D4F4A18916F}" dt="2025-11-04T16:42:09.220" v="1442" actId="20577"/>
          <ac:spMkLst>
            <pc:docMk/>
            <pc:sldMk cId="3381081491" sldId="520"/>
            <ac:spMk id="5" creationId="{01561F67-C857-75F3-1E38-C3354A40ACC9}"/>
          </ac:spMkLst>
        </pc:spChg>
        <pc:picChg chg="add del mod">
          <ac:chgData name="Judy Hogel" userId="8c522a7c-ff5b-4072-bb15-cc12faf141e5" providerId="ADAL" clId="{CAE47D54-355D-407A-B86C-5D4F4A18916F}" dt="2025-11-04T16:39:33.922" v="1400" actId="478"/>
          <ac:picMkLst>
            <pc:docMk/>
            <pc:sldMk cId="3381081491" sldId="520"/>
            <ac:picMk id="6" creationId="{AFDAD6BD-2350-9AB4-3CFF-84F75ED61F4C}"/>
          </ac:picMkLst>
        </pc:picChg>
        <pc:picChg chg="add del">
          <ac:chgData name="Judy Hogel" userId="8c522a7c-ff5b-4072-bb15-cc12faf141e5" providerId="ADAL" clId="{CAE47D54-355D-407A-B86C-5D4F4A18916F}" dt="2025-11-04T16:39:36.937" v="1401" actId="478"/>
          <ac:picMkLst>
            <pc:docMk/>
            <pc:sldMk cId="3381081491" sldId="520"/>
            <ac:picMk id="9" creationId="{4748C6D5-A64E-5FAF-7891-F802DEB25D6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725D8-9A7D-4EF6-A0D8-01B865199F3B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60085-6CA7-40CA-B9A1-2ADDB127B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61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A9AEE-E51A-28DE-DB69-8B6138B4B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AADE4-BE7B-123A-7C96-75D4E5717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4EF9A-A4A6-7C74-DB70-C2B879BF8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D437A-1EB4-FA36-A80B-F1DE161AE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60085-6CA7-40CA-B9A1-2ADDB127B12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606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CC035-59B6-A114-63F9-E51B97AFE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8313B-94EA-E829-48A9-3C5FF5390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25150B-1786-DDD3-4BDD-30E14A02F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1E4B4-9C86-EA84-151C-272FE0C8D1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60085-6CA7-40CA-B9A1-2ADDB127B12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607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9F33F-F4EF-4C16-8F32-5AFE8DA7F130}" type="datetime1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13D7-F0DF-40F6-B5E0-5409D0B877B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D7DD-F84E-47FC-9647-DC110F7B3609}" type="datetime1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13D7-F0DF-40F6-B5E0-5409D0B877B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6753-C632-4239-8A0D-6EEC35D7F4AB}" type="datetime1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13D7-F0DF-40F6-B5E0-5409D0B877B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42F3-C5A2-49BF-8F40-EA62F5120B2B}" type="datetime1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13D7-F0DF-40F6-B5E0-5409D0B877B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CCCE6-E4F1-491D-846D-70B8038DD6BC}" type="datetime1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13D7-F0DF-40F6-B5E0-5409D0B877B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DF5E-D25F-402F-B7F9-EF0EAA043F98}" type="datetime1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13D7-F0DF-40F6-B5E0-5409D0B877B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BF7B3-5088-4021-8B3C-FB8B2CD8B232}" type="datetime1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13D7-F0DF-40F6-B5E0-5409D0B877B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1BFF7-90A3-462B-853F-2618526FA7F9}" type="datetime1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13D7-F0DF-40F6-B5E0-5409D0B877B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4E88B-7B5C-4FB4-A577-7A5F27B17547}" type="datetime1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13D7-F0DF-40F6-B5E0-5409D0B877B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55EC7-790D-4000-A41E-9A50ABFE5B7C}" type="datetime1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13D7-F0DF-40F6-B5E0-5409D0B877B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30DF9-4130-4A8B-A89A-E8AE64B798FB}" type="datetime1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13D7-F0DF-40F6-B5E0-5409D0B877B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AF019-7403-48E0-BBA2-1F649D03F1DB}" type="datetime1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B13D7-F0DF-40F6-B5E0-5409D0B877B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dy@megapros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homedepot.com/p/Lifeproof-Ashen-Grove-Marble-22-MIL-x-11-9-in-W-x-23-8-in-L-Click-Lock-Waterproof-Vinyl-Tile-Flooring-17-7-sq-ft-case-SI69413L/327716551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rgusonhome.com/delta-15840lf/s1785575?uid=4220734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rgusonhome.com/kohler-k-31626-dry/s2032834?uid=487463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homedepot.com/p/Lifeproof-Chiffon-Lace-Oak-22-MIL-x-8-7-in-W-x-48-in-L-Click-Lock-Waterproof-Luxury-Vinyl-Plank-Flooring-20-1-sqft-case-I412211LP/311573442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omedepot.com/p/Schlage-Latitude-Satin-Chrome-Privacy-Bed-Bath-Door-Handle-F40-LAT-626/203730168" TargetMode="External"/><Relationship Id="rId2" Type="http://schemas.openxmlformats.org/officeDocument/2006/relationships/hyperlink" Target="https://www.homedepot.com/p/Schlage-Latitude-Satin-Chrome-Passage-Hall-Closet-Door-Handle-F10-LAT-626/203730151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homedepot.com/p/Everbilt-Chrome-Light-Duty-Hinge-Pin-Door-Stop-28067/314151593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homedepot.com/p/Hardware-Essentials-3-in-Satin-Chrome-Utility-Spring-Door-Stop-5-Pack-852926-0/203810590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9720" y="190020"/>
            <a:ext cx="3070380" cy="232751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Vince Conforti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9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639 North Main Street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Glen Ellyn, IL 60</a:t>
            </a:r>
            <a:r>
              <a:rPr lang="en-US" sz="19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137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38894-C</a:t>
            </a:r>
            <a:r>
              <a:rPr lang="en-US" sz="19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JC </a:t>
            </a:r>
            <a:endParaRPr lang="en-US" sz="19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Basement and Basement Bath Remodeling Project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9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Material Selections</a:t>
            </a:r>
            <a:endParaRPr lang="en-US" sz="19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78789" y="4091723"/>
            <a:ext cx="5000124" cy="2086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493776">
              <a:spcAft>
                <a:spcPts val="600"/>
              </a:spcAft>
            </a:pPr>
            <a:r>
              <a:rPr lang="en-US" sz="756" kern="1200">
                <a:solidFill>
                  <a:schemeClr val="tx1"/>
                </a:solidFill>
                <a:latin typeface="Book Antiqua" pitchFamily="18" charset="0"/>
                <a:ea typeface="+mn-ea"/>
                <a:cs typeface="+mn-cs"/>
              </a:rPr>
              <a:t>  </a:t>
            </a:r>
            <a:endParaRPr lang="en-US" sz="1400">
              <a:latin typeface="Book Antiqua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65D51D-6183-3D4F-0471-0481D31AD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096" y="1534093"/>
            <a:ext cx="4395230" cy="873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09B926-8993-43DA-60F9-0EB7916FE8BD}"/>
              </a:ext>
            </a:extLst>
          </p:cNvPr>
          <p:cNvSpPr txBox="1"/>
          <p:nvPr/>
        </p:nvSpPr>
        <p:spPr>
          <a:xfrm>
            <a:off x="7132763" y="5815504"/>
            <a:ext cx="2041717" cy="694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93776">
              <a:spcAft>
                <a:spcPts val="600"/>
              </a:spcAft>
            </a:pPr>
            <a:r>
              <a:rPr lang="en-US" sz="97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Judy Hogel </a:t>
            </a:r>
          </a:p>
          <a:p>
            <a:pPr defTabSz="493776">
              <a:spcAft>
                <a:spcPts val="600"/>
              </a:spcAft>
            </a:pPr>
            <a:r>
              <a:rPr lang="en-US" sz="972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Judy@megapros.com</a:t>
            </a:r>
            <a:endParaRPr lang="en-US" sz="972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493776">
              <a:spcAft>
                <a:spcPts val="600"/>
              </a:spcAft>
            </a:pPr>
            <a:r>
              <a:rPr lang="en-US" sz="97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847-652-4185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86118" y="735106"/>
            <a:ext cx="7540322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Basement Flooring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9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____________________________________________________________________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518098-219A-A770-BF73-32DE47C972B5}"/>
              </a:ext>
            </a:extLst>
          </p:cNvPr>
          <p:cNvSpPr txBox="1"/>
          <p:nvPr/>
        </p:nvSpPr>
        <p:spPr>
          <a:xfrm>
            <a:off x="200013" y="4495149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Total Allowances: $8,050.00 </a:t>
            </a:r>
          </a:p>
          <a:p>
            <a:r>
              <a:rPr lang="en-US" dirty="0"/>
              <a:t>$250.00 Permit Allowance </a:t>
            </a:r>
          </a:p>
          <a:p>
            <a:r>
              <a:rPr lang="en-US" dirty="0"/>
              <a:t>$600.00 Interior Doors &amp; Hardware </a:t>
            </a:r>
          </a:p>
          <a:p>
            <a:r>
              <a:rPr lang="en-US" dirty="0"/>
              <a:t>$6,500.00 LVT Flooring </a:t>
            </a:r>
          </a:p>
          <a:p>
            <a:r>
              <a:rPr lang="en-US" dirty="0"/>
              <a:t>$700.00 Door Casing, Trim &amp; Baseboards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0DD7A-6258-F3ED-06ED-E97DE7AB7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002333A-9659-5DB2-1174-A65D9049B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1EDFDC-74FA-5721-86D9-E96596ADE149}"/>
              </a:ext>
            </a:extLst>
          </p:cNvPr>
          <p:cNvSpPr txBox="1"/>
          <p:nvPr/>
        </p:nvSpPr>
        <p:spPr>
          <a:xfrm>
            <a:off x="276810" y="0"/>
            <a:ext cx="8839198" cy="1097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Kitchen Paint                                	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9EC45C-7BE9-9445-BC64-556DBE4F0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B95C61-98E3-A6FC-A911-45C80ACA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3057523" cy="464399"/>
          </a:xfrm>
          <a:prstGeom prst="rect">
            <a:avLst/>
          </a:prstGeom>
          <a:gradFill>
            <a:gsLst>
              <a:gs pos="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61F67-C857-75F3-1E38-C3354A40ACC9}"/>
              </a:ext>
            </a:extLst>
          </p:cNvPr>
          <p:cNvSpPr txBox="1"/>
          <p:nvPr/>
        </p:nvSpPr>
        <p:spPr>
          <a:xfrm>
            <a:off x="276810" y="831105"/>
            <a:ext cx="223240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Walls: Pearl River </a:t>
            </a:r>
          </a:p>
          <a:p>
            <a:endParaRPr lang="en-US" dirty="0"/>
          </a:p>
          <a:p>
            <a:r>
              <a:rPr lang="en-US" dirty="0"/>
              <a:t>Finish</a:t>
            </a:r>
            <a:r>
              <a:rPr lang="en-US"/>
              <a:t>: Eggshell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Ceiling: Ceiling White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81CC03-67CE-EF16-1506-920A5CD7B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842142"/>
            <a:ext cx="1798476" cy="16917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070CFC-C01C-E92B-7F47-122E6EDF44F4}"/>
              </a:ext>
            </a:extLst>
          </p:cNvPr>
          <p:cNvSpPr txBox="1"/>
          <p:nvPr/>
        </p:nvSpPr>
        <p:spPr>
          <a:xfrm>
            <a:off x="533400" y="5715000"/>
            <a:ext cx="2234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Samples order 9/3/25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081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018CD-A569-7FA0-1A93-356C37FE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F25983D-8AA2-65C2-31C7-3FCDE265A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8C2B26-71FA-35AE-66B4-554DBAB3B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4C697A-F157-C42D-46C0-EEA9D8D7C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792ED6-5AD5-C9AF-41DD-FE0EDF4CA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4704E0-4D3E-694D-6538-666BA3572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26C09AE-1C08-A5D0-98A2-F8546C450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59B220-1E8F-74B5-CD00-3ACCDF9AE33A}"/>
              </a:ext>
            </a:extLst>
          </p:cNvPr>
          <p:cNvSpPr txBox="1"/>
          <p:nvPr/>
        </p:nvSpPr>
        <p:spPr>
          <a:xfrm>
            <a:off x="986118" y="735106"/>
            <a:ext cx="7540322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9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Basement Bathroom </a:t>
            </a:r>
            <a:endParaRPr lang="en-US" sz="39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9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____________________________________________________________________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0F5AA-B391-7E5E-8155-A036EADC2550}"/>
              </a:ext>
            </a:extLst>
          </p:cNvPr>
          <p:cNvSpPr txBox="1"/>
          <p:nvPr/>
        </p:nvSpPr>
        <p:spPr>
          <a:xfrm>
            <a:off x="685800" y="4683956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Note: Not in Contract, Material out of allowance number. Labor will be an additional cost </a:t>
            </a:r>
          </a:p>
        </p:txBody>
      </p:sp>
    </p:spTree>
    <p:extLst>
      <p:ext uri="{BB962C8B-B14F-4D97-AF65-F5344CB8AC3E}">
        <p14:creationId xmlns:p14="http://schemas.microsoft.com/office/powerpoint/2010/main" val="2082431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F9A85-C0C2-E4C0-7A01-E55FD5653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A185F55-3297-5D64-AA47-BE196BC13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FB30CE-0D10-BA2A-F6C3-B850DC1E37D3}"/>
              </a:ext>
            </a:extLst>
          </p:cNvPr>
          <p:cNvSpPr txBox="1"/>
          <p:nvPr/>
        </p:nvSpPr>
        <p:spPr>
          <a:xfrm>
            <a:off x="304800" y="202377"/>
            <a:ext cx="8839198" cy="1097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Bath Flooring                                               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Final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437E14-BCC2-753C-621D-0FF690214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9A3246-3355-9E89-3F38-C5F661889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3057523" cy="464399"/>
          </a:xfrm>
          <a:prstGeom prst="rect">
            <a:avLst/>
          </a:prstGeom>
          <a:gradFill>
            <a:gsLst>
              <a:gs pos="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0611C-EEC0-480B-1F41-25B8B49B8671}"/>
              </a:ext>
            </a:extLst>
          </p:cNvPr>
          <p:cNvSpPr txBox="1"/>
          <p:nvPr/>
        </p:nvSpPr>
        <p:spPr>
          <a:xfrm>
            <a:off x="152400" y="862789"/>
            <a:ext cx="79248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Vendor: Home Depot</a:t>
            </a:r>
          </a:p>
          <a:p>
            <a:r>
              <a:rPr lang="en-US" dirty="0" err="1"/>
              <a:t>LifeProof</a:t>
            </a:r>
            <a:r>
              <a:rPr lang="en-US" dirty="0"/>
              <a:t> </a:t>
            </a:r>
          </a:p>
          <a:p>
            <a:r>
              <a:rPr lang="en-US" dirty="0"/>
              <a:t>Ashen Grove Marble 22 MIL x 11.9 in. W x 23.8 in. L Click Lock Waterproof Vinyl Tile Flooring </a:t>
            </a:r>
          </a:p>
          <a:p>
            <a:r>
              <a:rPr lang="en-US" dirty="0"/>
              <a:t>Model # SI69413L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A7DB6B-B814-40AC-DC3C-E6B07D3709B8}"/>
              </a:ext>
            </a:extLst>
          </p:cNvPr>
          <p:cNvSpPr txBox="1"/>
          <p:nvPr/>
        </p:nvSpPr>
        <p:spPr>
          <a:xfrm>
            <a:off x="152400" y="5674883"/>
            <a:ext cx="88391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https://www.homedepot.com/p/Lifeproof-Ashen-Grove-Marble-22-MIL-x-11-9-in-W-x-23-8-in-L-Click-Lock-Waterproof-Vinyl-Tile-Flooring-17-7-sq-ft-case-SI69413L/327716551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79DE8E-A325-153E-3A5A-9019256B7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04" y="2026975"/>
            <a:ext cx="3779390" cy="346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28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80CCC-315E-A382-BA9E-4880BCF0D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1F93C1-CD35-E3B8-C3E8-6BEFCC108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6A7227-020D-49C7-9CF8-2F33A7AA6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95539"/>
            <a:ext cx="8991600" cy="74266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>
              <a:lnSpc>
                <a:spcPct val="90000"/>
              </a:lnSpc>
            </a:pP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Bath Faucet 		                   	       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200" dirty="0">
                <a:solidFill>
                  <a:srgbClr val="FF0000"/>
                </a:solidFill>
              </a:rPr>
              <a:t>Final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10F8E0-C323-4286-3C4F-8FB79398A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BFEA46-F99B-9AE4-082D-F8C85C65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42537-5C6A-0BEB-4B83-23D0A77AE71D}"/>
              </a:ext>
            </a:extLst>
          </p:cNvPr>
          <p:cNvSpPr txBox="1"/>
          <p:nvPr/>
        </p:nvSpPr>
        <p:spPr>
          <a:xfrm>
            <a:off x="304800" y="902566"/>
            <a:ext cx="5105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Vendor: Ferguson </a:t>
            </a:r>
          </a:p>
          <a:p>
            <a:r>
              <a:rPr lang="en-US" dirty="0"/>
              <a:t>Delta Arvo 1.2 GPM Single Hole Bathroom Faucet with Pop-Up Drain Assembly</a:t>
            </a:r>
          </a:p>
          <a:p>
            <a:r>
              <a:rPr lang="en-US" dirty="0"/>
              <a:t>Model: 15840LF-SP</a:t>
            </a:r>
          </a:p>
          <a:p>
            <a:r>
              <a:rPr lang="en-US" dirty="0"/>
              <a:t>Brushed Nickel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4292FB-347A-7F7E-664F-1C20EA708E14}"/>
              </a:ext>
            </a:extLst>
          </p:cNvPr>
          <p:cNvSpPr txBox="1"/>
          <p:nvPr/>
        </p:nvSpPr>
        <p:spPr>
          <a:xfrm>
            <a:off x="76200" y="563226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https://www.fergusonhome.com/delta-15840lf/s1785575?uid=4220734</a:t>
            </a:r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D3C70D-06F2-8DD8-860B-8338BB524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743" y="1295400"/>
            <a:ext cx="3759773" cy="466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92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0BD5E-A40E-596A-8E2D-B6AE00C82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10EF8E-BE0A-7794-6BDB-BE4C476B4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2509D8-BC86-B756-14D3-BFD24DC01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7426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Toilet 	                                                                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Final 	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</a:t>
            </a:r>
            <a:endParaRPr lang="en-US" sz="2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5645A0-E277-733C-601F-446FFCC10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7E7BBC-0939-E5A1-9256-71AB05D2D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D987DD-A209-25E5-E970-B8F4EE5A2B85}"/>
              </a:ext>
            </a:extLst>
          </p:cNvPr>
          <p:cNvSpPr txBox="1"/>
          <p:nvPr/>
        </p:nvSpPr>
        <p:spPr>
          <a:xfrm>
            <a:off x="76200" y="843677"/>
            <a:ext cx="5105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Vendor: Ferguson</a:t>
            </a:r>
          </a:p>
          <a:p>
            <a:r>
              <a:rPr lang="en-US" dirty="0"/>
              <a:t>Brand: Kohler </a:t>
            </a:r>
          </a:p>
          <a:p>
            <a:r>
              <a:rPr lang="en-US" dirty="0"/>
              <a:t>Kohler Cimarron 1.28 GPF Two Piece Elongated Toilet with Left Hand Lever - Seat Included</a:t>
            </a:r>
          </a:p>
          <a:p>
            <a:r>
              <a:rPr lang="en-US" dirty="0"/>
              <a:t>Model: K-31626-DRY-0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EC51D-AB05-C9DA-ACF7-01CE3DA9FB70}"/>
              </a:ext>
            </a:extLst>
          </p:cNvPr>
          <p:cNvSpPr txBox="1"/>
          <p:nvPr/>
        </p:nvSpPr>
        <p:spPr>
          <a:xfrm>
            <a:off x="34636" y="5691157"/>
            <a:ext cx="45927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https://www.fergusonhome.com/kohler-k-31626-dry/s2032834?uid=4874637</a:t>
            </a:r>
            <a:endParaRPr lang="en-US" dirty="0"/>
          </a:p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9C520B-C906-24AD-89D5-02C651872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826405"/>
            <a:ext cx="3444538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85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7DCF-DEF7-990A-999D-5C36DC80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DB49540-EB24-02CA-1D93-04FB38906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B44C26-F41F-F294-431E-8F062F9FA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177433-86B5-F339-B803-402337755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8AAF8B-26CD-87F1-092C-E96FC690F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A640A1-13BA-8C22-9C83-542EB7B62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239E7F4-8CE7-4A4B-C5E9-0F62A18C0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EF9EED-0E5B-A350-CA2B-227C72CC897A}"/>
              </a:ext>
            </a:extLst>
          </p:cNvPr>
          <p:cNvSpPr txBox="1"/>
          <p:nvPr/>
        </p:nvSpPr>
        <p:spPr>
          <a:xfrm>
            <a:off x="986118" y="735106"/>
            <a:ext cx="7540322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Basement </a:t>
            </a:r>
            <a:r>
              <a:rPr lang="en-US" sz="39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Flooring</a:t>
            </a:r>
            <a:endParaRPr lang="en-US" sz="39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9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____________________________________________________________________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501603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F7EE2-54AD-06BD-0F85-2505998B3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52A3E4-57DD-2FE6-8FF7-A9680D5DE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44472F-4CA0-D360-E6C9-0F10221BD081}"/>
              </a:ext>
            </a:extLst>
          </p:cNvPr>
          <p:cNvSpPr txBox="1"/>
          <p:nvPr/>
        </p:nvSpPr>
        <p:spPr>
          <a:xfrm>
            <a:off x="304800" y="202377"/>
            <a:ext cx="8839198" cy="1097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Flooring &amp; Stairs                                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Final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D627BA-2C98-7D60-3A95-D3C5CD984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34A108-57A4-197F-C2ED-DFBB5C98B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3057523" cy="464399"/>
          </a:xfrm>
          <a:prstGeom prst="rect">
            <a:avLst/>
          </a:prstGeom>
          <a:gradFill>
            <a:gsLst>
              <a:gs pos="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6CFC5-1111-E30D-640A-171BED7110A5}"/>
              </a:ext>
            </a:extLst>
          </p:cNvPr>
          <p:cNvSpPr txBox="1"/>
          <p:nvPr/>
        </p:nvSpPr>
        <p:spPr>
          <a:xfrm>
            <a:off x="277089" y="929013"/>
            <a:ext cx="79248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Vendor: Home Depot</a:t>
            </a:r>
          </a:p>
          <a:p>
            <a:r>
              <a:rPr lang="en-US" dirty="0" err="1"/>
              <a:t>Lifeproof</a:t>
            </a:r>
            <a:r>
              <a:rPr lang="en-US" dirty="0"/>
              <a:t> </a:t>
            </a:r>
          </a:p>
          <a:p>
            <a:r>
              <a:rPr lang="en-US" dirty="0"/>
              <a:t>Chiffon Lace Oak 22 MIL x 8.7 in. W x 48 in. L Click Lock Waterproof Luxury Vinyl Plank Flooring </a:t>
            </a:r>
          </a:p>
          <a:p>
            <a:r>
              <a:rPr lang="en-US" dirty="0"/>
              <a:t>Model # I412211LP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D593AD-F85B-148A-DFA4-2AD3CC65A625}"/>
              </a:ext>
            </a:extLst>
          </p:cNvPr>
          <p:cNvSpPr txBox="1"/>
          <p:nvPr/>
        </p:nvSpPr>
        <p:spPr>
          <a:xfrm>
            <a:off x="148934" y="5543781"/>
            <a:ext cx="88391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https://www.homedepot.com/p/Lifeproof-Chiffon-Lace-Oak-22-MIL-x-8-7-in-W-x-48-in-L-Click-Lock-Waterproof-Luxury-Vinyl-Plank-Flooring-20-1-sqft-case-I412211LP/311573442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114BD2-29E9-5F4D-CEAE-850D34672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919" y="1963598"/>
            <a:ext cx="4434959" cy="339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07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358D8-CF18-B175-0ABA-A6EB25B89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7A49F8A-F7D8-0C03-D05F-1B56F3D63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910DD1-D3A8-AE1C-AF78-359676F8D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438979-9E0D-4E66-528D-69CDD498F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501E94-D902-5B9B-E81F-EF69E7331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8A2129-1656-DD56-3CA2-8117B8255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101B9FC-A2AC-A17A-9AE0-0AEAD52ED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AEECA2-2EB8-B954-CAB9-F23A9015A7C6}"/>
              </a:ext>
            </a:extLst>
          </p:cNvPr>
          <p:cNvSpPr txBox="1"/>
          <p:nvPr/>
        </p:nvSpPr>
        <p:spPr>
          <a:xfrm>
            <a:off x="986118" y="735106"/>
            <a:ext cx="7540322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Doors, Railing, Trim &amp; </a:t>
            </a:r>
            <a:r>
              <a:rPr lang="en-US" sz="39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Harware</a:t>
            </a:r>
            <a:r>
              <a:rPr lang="en-US" sz="3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9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____________________________________________________________________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94728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C5B19-D8F7-2131-A110-D31C6E855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13C03A6-6D70-89F3-205E-6B5F08FA0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836779-83DA-C66A-48CF-599357087219}"/>
              </a:ext>
            </a:extLst>
          </p:cNvPr>
          <p:cNvSpPr txBox="1"/>
          <p:nvPr/>
        </p:nvSpPr>
        <p:spPr>
          <a:xfrm>
            <a:off x="276810" y="0"/>
            <a:ext cx="8839198" cy="1097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prstClr val="black"/>
                </a:solidFill>
                <a:latin typeface="Calibri"/>
              </a:rPr>
              <a:t>Door Knobs                                        </a:t>
            </a:r>
            <a:r>
              <a:rPr lang="en-US" sz="3500" dirty="0">
                <a:solidFill>
                  <a:srgbClr val="FF0000"/>
                </a:solidFill>
                <a:latin typeface="Calibri"/>
              </a:rPr>
              <a:t>Final 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5F04C7-E13A-C0E0-E10F-71853B42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342FAC-3B5A-6F6A-2B3D-6FBD20EF6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3057523" cy="464399"/>
          </a:xfrm>
          <a:prstGeom prst="rect">
            <a:avLst/>
          </a:prstGeom>
          <a:gradFill>
            <a:gsLst>
              <a:gs pos="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62A5AB-AEF2-6281-EBD4-7163F75A7BC3}"/>
              </a:ext>
            </a:extLst>
          </p:cNvPr>
          <p:cNvSpPr txBox="1"/>
          <p:nvPr/>
        </p:nvSpPr>
        <p:spPr>
          <a:xfrm>
            <a:off x="413038" y="914400"/>
            <a:ext cx="78481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Vendor: Home Depot </a:t>
            </a:r>
          </a:p>
          <a:p>
            <a:r>
              <a:rPr lang="en-US" dirty="0"/>
              <a:t>Schlage Latitude Satin Chrome Passage Hall/Closet Door Handle &amp; Privacy Handle </a:t>
            </a:r>
          </a:p>
          <a:p>
            <a:r>
              <a:rPr lang="en-US" dirty="0"/>
              <a:t>Model # F40 LAT 626</a:t>
            </a:r>
          </a:p>
          <a:p>
            <a:r>
              <a:rPr lang="en-US" dirty="0"/>
              <a:t>Model # F10 LAT 626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3A3FA1-BD1E-857E-2F73-253C694A2C75}"/>
              </a:ext>
            </a:extLst>
          </p:cNvPr>
          <p:cNvSpPr txBox="1"/>
          <p:nvPr/>
        </p:nvSpPr>
        <p:spPr>
          <a:xfrm>
            <a:off x="203793" y="5709519"/>
            <a:ext cx="88775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https://www.homedepot.com/p/Schlage-Latitude-Satin-Chrome-Passage-Hall-Closet-Door-Handle-F10-LAT-626/203730151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276E4-6ECF-AB25-E485-458862A925DC}"/>
              </a:ext>
            </a:extLst>
          </p:cNvPr>
          <p:cNvSpPr txBox="1"/>
          <p:nvPr/>
        </p:nvSpPr>
        <p:spPr>
          <a:xfrm>
            <a:off x="203793" y="5020270"/>
            <a:ext cx="85840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https://www.homedepot.com/p/Schlage-Latitude-Satin-Chrome-Privacy-Bed-Bath-Door-Handle-F40-LAT-626/203730168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CCDFAE-64DE-EDEA-558E-0543F7174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38508"/>
            <a:ext cx="3572055" cy="26525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AF7B12-6110-B06F-5F6C-7F808A8E4E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390" y="2473268"/>
            <a:ext cx="3556814" cy="223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342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A2CF1-6146-9BB8-FF29-47056E7D5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A1F916-5A04-E6B1-7D0A-83827B4B0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D5DEA7-0801-F337-9D0E-5FBEA34389DC}"/>
              </a:ext>
            </a:extLst>
          </p:cNvPr>
          <p:cNvSpPr txBox="1"/>
          <p:nvPr/>
        </p:nvSpPr>
        <p:spPr>
          <a:xfrm>
            <a:off x="276810" y="0"/>
            <a:ext cx="8839198" cy="1097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Door Hinge Pin Stops                                    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Final 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649FE9-07A6-99DB-C992-4EEBE55CD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A964C9-A0A7-E26C-40DE-78E37E9FE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3057523" cy="464399"/>
          </a:xfrm>
          <a:prstGeom prst="rect">
            <a:avLst/>
          </a:prstGeom>
          <a:gradFill>
            <a:gsLst>
              <a:gs pos="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5481C-2ADA-8753-4F48-9AF74CF16AC0}"/>
              </a:ext>
            </a:extLst>
          </p:cNvPr>
          <p:cNvSpPr txBox="1"/>
          <p:nvPr/>
        </p:nvSpPr>
        <p:spPr>
          <a:xfrm>
            <a:off x="381000" y="91440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Vendor: Home Depot</a:t>
            </a:r>
          </a:p>
          <a:p>
            <a:r>
              <a:rPr lang="en-US" dirty="0"/>
              <a:t>Chrome Light Duty Hinge Pin Door Stop</a:t>
            </a:r>
          </a:p>
          <a:p>
            <a:r>
              <a:rPr lang="en-US" dirty="0"/>
              <a:t>Model # 28067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D5900D-15DD-9CE3-28BA-38CDD74C03AA}"/>
              </a:ext>
            </a:extLst>
          </p:cNvPr>
          <p:cNvSpPr txBox="1"/>
          <p:nvPr/>
        </p:nvSpPr>
        <p:spPr>
          <a:xfrm>
            <a:off x="124410" y="5519445"/>
            <a:ext cx="91439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https://www.homedepot.com/p/Everbilt-Chrome-Light-Duty-Hinge-Pin-Door-Stop-28067/314151593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A9A2EA-98F8-B8A4-6BE8-1F904FB54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890" y="1930291"/>
            <a:ext cx="3433035" cy="268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20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57667-2014-77D8-C468-B20A8951D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08240A5-1930-D14F-457B-8BFCD9018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15C091-0C0F-BB1F-28BE-CCE204C1AD4A}"/>
              </a:ext>
            </a:extLst>
          </p:cNvPr>
          <p:cNvSpPr txBox="1"/>
          <p:nvPr/>
        </p:nvSpPr>
        <p:spPr>
          <a:xfrm>
            <a:off x="276810" y="0"/>
            <a:ext cx="8839198" cy="1097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Door Hinge Pin Stops                                    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Final 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E0D88B-3B91-47C8-C353-00F015FEB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C10DA0-C00F-263F-0531-54E878C1B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3057523" cy="464399"/>
          </a:xfrm>
          <a:prstGeom prst="rect">
            <a:avLst/>
          </a:prstGeom>
          <a:gradFill>
            <a:gsLst>
              <a:gs pos="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E888B3-9DA1-ADF0-1E83-22E08B87FA1E}"/>
              </a:ext>
            </a:extLst>
          </p:cNvPr>
          <p:cNvSpPr txBox="1"/>
          <p:nvPr/>
        </p:nvSpPr>
        <p:spPr>
          <a:xfrm>
            <a:off x="256026" y="569541"/>
            <a:ext cx="58399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Vendor: Home Depot</a:t>
            </a:r>
          </a:p>
          <a:p>
            <a:r>
              <a:rPr lang="en-US" dirty="0"/>
              <a:t>Hardware Es3 in. Satin Chrome Utility Spring Door Stop</a:t>
            </a:r>
          </a:p>
          <a:p>
            <a:r>
              <a:rPr lang="en-US" dirty="0"/>
              <a:t>Model # 852926.0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7F5A4-116A-8D8B-7BFF-E1961E41BE44}"/>
              </a:ext>
            </a:extLst>
          </p:cNvPr>
          <p:cNvSpPr txBox="1"/>
          <p:nvPr/>
        </p:nvSpPr>
        <p:spPr>
          <a:xfrm>
            <a:off x="20784" y="5737228"/>
            <a:ext cx="91439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https://www.homedepot.com/p/Hardware-Essentials-3-in-Satin-Chrome-Utility-Spring-Door-Stop-5-Pack-852926-0/203810590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C4C0BB-6B6C-1BDD-7EB3-590698127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738078"/>
            <a:ext cx="4650365" cy="332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219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79241-2E4E-82EE-0E9F-BB116AC91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370EFF9-BD91-703C-5F0D-0AD839C88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5614F-0BF4-D07C-24F2-7E65E7CE42B0}"/>
              </a:ext>
            </a:extLst>
          </p:cNvPr>
          <p:cNvSpPr txBox="1"/>
          <p:nvPr/>
        </p:nvSpPr>
        <p:spPr>
          <a:xfrm>
            <a:off x="276810" y="0"/>
            <a:ext cx="8839198" cy="1097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 – Panel Doors 		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761A83-8508-39F0-FAE3-0F68A1375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F56EFA-4E87-D82D-D8BD-8D08F9243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3057523" cy="464399"/>
          </a:xfrm>
          <a:prstGeom prst="rect">
            <a:avLst/>
          </a:prstGeom>
          <a:gradFill>
            <a:gsLst>
              <a:gs pos="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322E0C-919F-DBA4-3A6A-8638EDB4B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125228"/>
            <a:ext cx="3230975" cy="366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0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E2126-A425-BA2C-067A-D899E9A24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8F48EC3-22A9-A1D6-3802-2B4B32E36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6A907-B076-A9C8-890A-93862DE0E856}"/>
              </a:ext>
            </a:extLst>
          </p:cNvPr>
          <p:cNvSpPr txBox="1"/>
          <p:nvPr/>
        </p:nvSpPr>
        <p:spPr>
          <a:xfrm>
            <a:off x="276810" y="0"/>
            <a:ext cx="8839198" cy="1097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prstClr val="black"/>
                </a:solidFill>
                <a:latin typeface="Calibri"/>
              </a:rPr>
              <a:t>Stair Handrail 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9B0EB2-49FE-56FF-760F-9FDB2AF14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D17DB5-CC02-A84C-4D6A-FDA80C758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3057523" cy="464399"/>
          </a:xfrm>
          <a:prstGeom prst="rect">
            <a:avLst/>
          </a:prstGeom>
          <a:gradFill>
            <a:gsLst>
              <a:gs pos="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8652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20838-9ECB-709D-C9CF-A7C28AD37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E42E20-FD74-A758-FDA9-049E2B18D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6FEC2B-27C8-6A57-A08A-C41DB923BC56}"/>
              </a:ext>
            </a:extLst>
          </p:cNvPr>
          <p:cNvSpPr txBox="1"/>
          <p:nvPr/>
        </p:nvSpPr>
        <p:spPr>
          <a:xfrm>
            <a:off x="276810" y="0"/>
            <a:ext cx="8839198" cy="1097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Light Switches and Outlets 		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3703D8-4776-AA49-7F19-DA6498D04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EF079D-BD1B-E31E-C990-8FF962428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3057523" cy="464399"/>
          </a:xfrm>
          <a:prstGeom prst="rect">
            <a:avLst/>
          </a:prstGeom>
          <a:gradFill>
            <a:gsLst>
              <a:gs pos="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2858B-D756-EA1E-2D03-6873001C7718}"/>
              </a:ext>
            </a:extLst>
          </p:cNvPr>
          <p:cNvSpPr txBox="1"/>
          <p:nvPr/>
        </p:nvSpPr>
        <p:spPr>
          <a:xfrm>
            <a:off x="228600" y="1295400"/>
            <a:ext cx="2548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Service Plus will Supply  </a:t>
            </a:r>
          </a:p>
        </p:txBody>
      </p:sp>
    </p:spTree>
    <p:extLst>
      <p:ext uri="{BB962C8B-B14F-4D97-AF65-F5344CB8AC3E}">
        <p14:creationId xmlns:p14="http://schemas.microsoft.com/office/powerpoint/2010/main" val="3467970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10c09e-83d3-4fdf-89fe-0427cf337cc1">
      <Terms xmlns="http://schemas.microsoft.com/office/infopath/2007/PartnerControls"/>
    </lcf76f155ced4ddcb4097134ff3c332f>
    <TaxCatchAll xmlns="1cb60c69-d778-4c2c-bf4b-6debbc7ff2c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CCA6C33DB954469FFC730A3D4DEEC2" ma:contentTypeVersion="19" ma:contentTypeDescription="Create a new document." ma:contentTypeScope="" ma:versionID="2c8cf8c20fc2e0f24d9bfb625304cb27">
  <xsd:schema xmlns:xsd="http://www.w3.org/2001/XMLSchema" xmlns:xs="http://www.w3.org/2001/XMLSchema" xmlns:p="http://schemas.microsoft.com/office/2006/metadata/properties" xmlns:ns2="6810c09e-83d3-4fdf-89fe-0427cf337cc1" xmlns:ns3="1cb60c69-d778-4c2c-bf4b-6debbc7ff2c8" targetNamespace="http://schemas.microsoft.com/office/2006/metadata/properties" ma:root="true" ma:fieldsID="54778e939a5280e80544d8e0ab464bda" ns2:_="" ns3:_="">
    <xsd:import namespace="6810c09e-83d3-4fdf-89fe-0427cf337cc1"/>
    <xsd:import namespace="1cb60c69-d778-4c2c-bf4b-6debbc7ff2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0c09e-83d3-4fdf-89fe-0427cf337c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1" nillable="true" ma:displayName="Location" ma:internalName="MediaServiceLocatio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0749b28-0738-423f-a734-462967cb2e2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b60c69-d778-4c2c-bf4b-6debbc7ff2c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79d2d9-a943-4101-9d07-b8c47df2bc72}" ma:internalName="TaxCatchAll" ma:showField="CatchAllData" ma:web="1cb60c69-d778-4c2c-bf4b-6debbc7ff2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F30FA7-CEEA-4B3D-AE74-D1977ADF4E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4675D4-BC22-4F7C-AECB-6EBCD051E372}">
  <ds:schemaRefs>
    <ds:schemaRef ds:uri="http://schemas.openxmlformats.org/package/2006/metadata/core-properties"/>
    <ds:schemaRef ds:uri="http://www.w3.org/XML/1998/namespace"/>
    <ds:schemaRef ds:uri="1a51515c-6c95-4b04-a6e0-05ce847bd7a3"/>
    <ds:schemaRef ds:uri="http://schemas.microsoft.com/office/2006/documentManagement/types"/>
    <ds:schemaRef ds:uri="http://purl.org/dc/elements/1.1/"/>
    <ds:schemaRef ds:uri="http://schemas.microsoft.com/office/2006/metadata/properties"/>
    <ds:schemaRef ds:uri="3c3b5a06-fc5c-4795-ab57-0f25ad061b37"/>
    <ds:schemaRef ds:uri="http://schemas.microsoft.com/office/infopath/2007/PartnerControls"/>
    <ds:schemaRef ds:uri="http://purl.org/dc/dcmitype/"/>
    <ds:schemaRef ds:uri="http://purl.org/dc/terms/"/>
    <ds:schemaRef ds:uri="6810c09e-83d3-4fdf-89fe-0427cf337cc1"/>
    <ds:schemaRef ds:uri="1cb60c69-d778-4c2c-bf4b-6debbc7ff2c8"/>
  </ds:schemaRefs>
</ds:datastoreItem>
</file>

<file path=customXml/itemProps3.xml><?xml version="1.0" encoding="utf-8"?>
<ds:datastoreItem xmlns:ds="http://schemas.openxmlformats.org/officeDocument/2006/customXml" ds:itemID="{A7331644-EA8A-49BB-9015-B77ACAC4A0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10c09e-83d3-4fdf-89fe-0427cf337cc1"/>
    <ds:schemaRef ds:uri="1cb60c69-d778-4c2c-bf4b-6debbc7ff2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6491</TotalTime>
  <Words>444</Words>
  <Application>Microsoft Office PowerPoint</Application>
  <PresentationFormat>On-screen Show (4:3)</PresentationFormat>
  <Paragraphs>85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Book Antiqua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Bath Faucet                                Final  </vt:lpstr>
      <vt:lpstr>Toilet                                                                   Final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showroom</dc:creator>
  <cp:lastModifiedBy>Judy</cp:lastModifiedBy>
  <cp:revision>67</cp:revision>
  <cp:lastPrinted>2024-04-19T02:43:10Z</cp:lastPrinted>
  <dcterms:created xsi:type="dcterms:W3CDTF">2015-02-06T19:24:03Z</dcterms:created>
  <dcterms:modified xsi:type="dcterms:W3CDTF">2025-11-04T16:42:14Z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0x010100ABCCA6C33DB954469FFC730A3D4DEEC2</vt:lpwstr>
  </property>
  <property fmtid="{D5CDD505-2E9C-101B-9397-08002B2CF9AE}" pid="3" name="MediaServiceImageTags">
    <vt:lpwstr/>
  </property>
</Properties>
</file>